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Explain the novelty in one sentence: ReliefChain combines end-to-end fund-state evidence with audience-specific privacy, so transparency no longer means exposing beneficiaries.</a:t>
            </a: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Walk left to right. The client never talks directly to a peer. The API enforces application authorization, Fabric enforces deterministic ledger rules, and only committed privacy-safe events feed audit evidence.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Be explicit that feasibility is demonstrated by a working stack, while viability requires independent institutions and real regulated providers. This honesty strengthens rather than weakens the proposal.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Frame impact by audience. Do not claim a percentage reduction without a field pilot; describe the observable outcomes the MVP already enables.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References are official primary sources. Clarify that UIDAI integration is not claimed; the current MVP uses synthetic identifiers and cites UIDAI guidance as a production design constraint.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trust problem: beneficiaries and auditors currently depend on the same intermediaries they are trying to verify. ReliefChain turns claims into attributable ledger evidence while keeping recipient identity private.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hyperlink" Target="https://hyperledger-fabric.readthedocs.io/en/latest/security_model.html" TargetMode="External"/><Relationship Id="rId5" Type="http://schemas.openxmlformats.org/officeDocument/2006/relationships/hyperlink" Target="https://hyperledger-fabric.readthedocs.io/en/release-2.5/ledger/ledger.html" TargetMode="External"/><Relationship Id="rId6" Type="http://schemas.openxmlformats.org/officeDocument/2006/relationships/hyperlink" Target="https://csrc.nist.gov/pubs/sp/800/38/d/final" TargetMode="External"/><Relationship Id="rId7" Type="http://schemas.openxmlformats.org/officeDocument/2006/relationships/hyperlink" Target="https://www.meity.gov.in/writereaddata/files/Digital%20Personal%20Data%20Protection%20Act%202023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 anchor="ctr"/>
          <a:lstStyle/>
          <a:p>
            <a:pPr algn="l"/>
            <a:r>
              <a:rPr sz="3600" b="1">
                <a:solidFill>
                  <a:srgbClr val="138A43"/>
                </a:solidFill>
                <a:latin typeface="Garamond"/>
              </a:rPr>
              <a:t>RELIEFCHAIN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sz="1700" b="1">
                <a:solidFill>
                  <a:srgbClr val="4E626C"/>
                </a:solidFill>
                <a:latin typeface="Arial"/>
              </a:rPr>
              <a:t>Verify every rupee. Expose no beneficiary.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 lIns="36576" rIns="45720">
            <a:spAutoFit/>
          </a:bodyPr>
          <a:lstStyle/>
          <a:p>
            <a:pPr>
              <a:spcAft>
                <a:spcPts val="700"/>
              </a:spcAft>
            </a:pPr>
            <a:r>
              <a:rPr sz="1600" b="1">
                <a:solidFill>
                  <a:srgbClr val="4E626C"/>
                </a:solidFill>
                <a:latin typeface="Arial"/>
              </a:rPr>
              <a:t>Problem Statement ID: </a:t>
            </a:r>
            <a:r>
              <a:rPr sz="1600" b="0">
                <a:solidFill>
                  <a:srgbClr val="233138"/>
                </a:solidFill>
                <a:latin typeface="Arial"/>
              </a:rPr>
              <a:t>[ENTER PS ID]</a:t>
            </a:r>
            <a:endParaRPr lang="en-US" dirty="0"/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4E626C"/>
                </a:solidFill>
                <a:latin typeface="Arial"/>
              </a:rPr>
              <a:t>Problem Statement Title: </a:t>
            </a:r>
            <a:r>
              <a:rPr sz="1600" b="0">
                <a:solidFill>
                  <a:srgbClr val="233138"/>
                </a:solidFill>
                <a:latin typeface="Arial"/>
              </a:rPr>
              <a:t>Transparent, Privacy-Preserving Disaster Relief Fund Tracking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4E626C"/>
                </a:solidFill>
                <a:latin typeface="Arial"/>
              </a:rPr>
              <a:t>Theme: </a:t>
            </a:r>
            <a:r>
              <a:rPr sz="1600" b="0">
                <a:solidFill>
                  <a:srgbClr val="233138"/>
                </a:solidFill>
                <a:latin typeface="Arial"/>
              </a:rPr>
              <a:t>[ENTER OFFICIAL SIH THEME]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4E626C"/>
                </a:solidFill>
                <a:latin typeface="Arial"/>
              </a:rPr>
              <a:t>PS Category: </a:t>
            </a:r>
            <a:r>
              <a:rPr sz="1600" b="0">
                <a:solidFill>
                  <a:srgbClr val="233138"/>
                </a:solidFill>
                <a:latin typeface="Arial"/>
              </a:rPr>
              <a:t>Software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4E626C"/>
                </a:solidFill>
                <a:latin typeface="Arial"/>
              </a:rPr>
              <a:t>Team ID: </a:t>
            </a:r>
            <a:r>
              <a:rPr sz="1600" b="0">
                <a:solidFill>
                  <a:srgbClr val="233138"/>
                </a:solidFill>
                <a:latin typeface="Arial"/>
              </a:rPr>
              <a:t>[ENTER TEAM ID]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4E626C"/>
                </a:solidFill>
                <a:latin typeface="Arial"/>
              </a:rPr>
              <a:t>Team Name: </a:t>
            </a:r>
            <a:r>
              <a:rPr sz="1600" b="0">
                <a:solidFill>
                  <a:srgbClr val="233138"/>
                </a:solidFill>
                <a:latin typeface="Arial"/>
              </a:rPr>
              <a:t>RELIEFCHAIN [VERIFY PORTAL NAME]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233138"/>
                </a:solidFill>
                <a:latin typeface="Arial"/>
              </a:rPr>
              <a:t>RELIEFCHAIN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640080" y="960120"/>
            <a:ext cx="1083564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50" b="1">
                <a:solidFill>
                  <a:srgbClr val="4E626C"/>
                </a:solidFill>
                <a:latin typeface="Arial"/>
              </a:rPr>
              <a:t>PROPOSED SOLUTION  •  HOW IT ADDRESSES THE PROBLEM  •  INNOVATION &amp; UNIQUENESS</a:t>
            </a:r>
          </a:p>
        </p:txBody>
      </p:sp>
      <p:sp>
        <p:nvSpPr>
          <p:cNvPr id="15363" name="TextBox 15362"/>
          <p:cNvSpPr txBox="1"/>
          <p:nvPr/>
        </p:nvSpPr>
        <p:spPr>
          <a:xfrm>
            <a:off x="640080" y="1207008"/>
            <a:ext cx="10835640" cy="3931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2500" b="1">
                <a:solidFill>
                  <a:srgbClr val="138A43"/>
                </a:solidFill>
                <a:latin typeface="Arial"/>
              </a:rPr>
              <a:t>RELIEFCHAIN</a:t>
            </a:r>
          </a:p>
        </p:txBody>
      </p:sp>
      <p:sp>
        <p:nvSpPr>
          <p:cNvPr id="15364" name="TextBox 15363"/>
          <p:cNvSpPr txBox="1"/>
          <p:nvPr/>
        </p:nvSpPr>
        <p:spPr>
          <a:xfrm>
            <a:off x="1097280" y="1572768"/>
            <a:ext cx="99212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4E626C"/>
                </a:solidFill>
                <a:latin typeface="Arial"/>
              </a:rPr>
              <a:t>A permissioned evidence trail from fund source to family payout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502920" y="2121408"/>
            <a:ext cx="1947672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27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6" name="Oval 15365"/>
          <p:cNvSpPr/>
          <p:nvPr/>
        </p:nvSpPr>
        <p:spPr>
          <a:xfrm>
            <a:off x="576072" y="2240279"/>
            <a:ext cx="347472" cy="347472"/>
          </a:xfrm>
          <a:prstGeom prst="ellipse">
            <a:avLst/>
          </a:prstGeom>
          <a:solidFill>
            <a:srgbClr val="F27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367" name="TextBox 15366"/>
          <p:cNvSpPr txBox="1"/>
          <p:nvPr/>
        </p:nvSpPr>
        <p:spPr>
          <a:xfrm>
            <a:off x="978408" y="2212848"/>
            <a:ext cx="1380743" cy="3383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F27012"/>
                </a:solidFill>
                <a:latin typeface="Arial"/>
              </a:rPr>
              <a:t>SOURCE</a:t>
            </a:r>
          </a:p>
        </p:txBody>
      </p:sp>
      <p:sp>
        <p:nvSpPr>
          <p:cNvPr id="15368" name="TextBox 15367"/>
          <p:cNvSpPr txBox="1"/>
          <p:nvPr/>
        </p:nvSpPr>
        <p:spPr>
          <a:xfrm>
            <a:off x="612648" y="2606039"/>
            <a:ext cx="1728216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50" b="0">
                <a:solidFill>
                  <a:srgbClr val="233138"/>
                </a:solidFill>
                <a:latin typeface="Arial"/>
              </a:rPr>
              <a:t>Govt • NGO • donor</a:t>
            </a:r>
          </a:p>
        </p:txBody>
      </p:sp>
      <p:sp>
        <p:nvSpPr>
          <p:cNvPr id="15369" name="Right Arrow 15368"/>
          <p:cNvSpPr/>
          <p:nvPr/>
        </p:nvSpPr>
        <p:spPr>
          <a:xfrm>
            <a:off x="2496311" y="2514600"/>
            <a:ext cx="310896" cy="256032"/>
          </a:xfrm>
          <a:prstGeom prst="rightArrow">
            <a:avLst/>
          </a:prstGeom>
          <a:solidFill>
            <a:srgbClr val="4E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0" name="Rounded Rectangle 15369"/>
          <p:cNvSpPr/>
          <p:nvPr/>
        </p:nvSpPr>
        <p:spPr>
          <a:xfrm>
            <a:off x="2770632" y="2121408"/>
            <a:ext cx="1947672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38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1" name="Oval 15370"/>
          <p:cNvSpPr/>
          <p:nvPr/>
        </p:nvSpPr>
        <p:spPr>
          <a:xfrm>
            <a:off x="2843784" y="2240279"/>
            <a:ext cx="347472" cy="347472"/>
          </a:xfrm>
          <a:prstGeom prst="ellipse">
            <a:avLst/>
          </a:prstGeom>
          <a:solidFill>
            <a:srgbClr val="138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372" name="TextBox 15371"/>
          <p:cNvSpPr txBox="1"/>
          <p:nvPr/>
        </p:nvSpPr>
        <p:spPr>
          <a:xfrm>
            <a:off x="3246120" y="2212848"/>
            <a:ext cx="1380743" cy="3383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138A43"/>
                </a:solidFill>
                <a:latin typeface="Arial"/>
              </a:rPr>
              <a:t>ALLOCATE</a:t>
            </a:r>
          </a:p>
        </p:txBody>
      </p:sp>
      <p:sp>
        <p:nvSpPr>
          <p:cNvPr id="15373" name="TextBox 15372"/>
          <p:cNvSpPr txBox="1"/>
          <p:nvPr/>
        </p:nvSpPr>
        <p:spPr>
          <a:xfrm>
            <a:off x="2880360" y="2606039"/>
            <a:ext cx="1728216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50" b="0">
                <a:solidFill>
                  <a:srgbClr val="233138"/>
                </a:solidFill>
                <a:latin typeface="Arial"/>
              </a:rPr>
              <a:t>District + scheme</a:t>
            </a:r>
          </a:p>
        </p:txBody>
      </p:sp>
      <p:sp>
        <p:nvSpPr>
          <p:cNvPr id="15374" name="Right Arrow 15373"/>
          <p:cNvSpPr/>
          <p:nvPr/>
        </p:nvSpPr>
        <p:spPr>
          <a:xfrm>
            <a:off x="4764024" y="2514600"/>
            <a:ext cx="310896" cy="256032"/>
          </a:xfrm>
          <a:prstGeom prst="rightArrow">
            <a:avLst/>
          </a:prstGeom>
          <a:solidFill>
            <a:srgbClr val="4E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5" name="Rounded Rectangle 15374"/>
          <p:cNvSpPr/>
          <p:nvPr/>
        </p:nvSpPr>
        <p:spPr>
          <a:xfrm>
            <a:off x="5038344" y="2121408"/>
            <a:ext cx="1947672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38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6" name="Oval 15375"/>
          <p:cNvSpPr/>
          <p:nvPr/>
        </p:nvSpPr>
        <p:spPr>
          <a:xfrm>
            <a:off x="5111496" y="2240279"/>
            <a:ext cx="347472" cy="347472"/>
          </a:xfrm>
          <a:prstGeom prst="ellipse">
            <a:avLst/>
          </a:prstGeom>
          <a:solidFill>
            <a:srgbClr val="138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377" name="TextBox 15376"/>
          <p:cNvSpPr txBox="1"/>
          <p:nvPr/>
        </p:nvSpPr>
        <p:spPr>
          <a:xfrm>
            <a:off x="5513831" y="2212848"/>
            <a:ext cx="1380743" cy="3383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138A43"/>
                </a:solidFill>
                <a:latin typeface="Arial"/>
              </a:rPr>
              <a:t>COMMIT</a:t>
            </a:r>
          </a:p>
        </p:txBody>
      </p:sp>
      <p:sp>
        <p:nvSpPr>
          <p:cNvPr id="15378" name="TextBox 15377"/>
          <p:cNvSpPr txBox="1"/>
          <p:nvPr/>
        </p:nvSpPr>
        <p:spPr>
          <a:xfrm>
            <a:off x="5148072" y="2606039"/>
            <a:ext cx="1728216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50" b="0">
                <a:solidFill>
                  <a:srgbClr val="233138"/>
                </a:solidFill>
                <a:latin typeface="Arial"/>
              </a:rPr>
              <a:t>HMAC beneficiary link</a:t>
            </a:r>
          </a:p>
        </p:txBody>
      </p:sp>
      <p:sp>
        <p:nvSpPr>
          <p:cNvPr id="15379" name="Right Arrow 15378"/>
          <p:cNvSpPr/>
          <p:nvPr/>
        </p:nvSpPr>
        <p:spPr>
          <a:xfrm>
            <a:off x="7031736" y="2514600"/>
            <a:ext cx="310896" cy="256032"/>
          </a:xfrm>
          <a:prstGeom prst="rightArrow">
            <a:avLst/>
          </a:prstGeom>
          <a:solidFill>
            <a:srgbClr val="4E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0" name="Rounded Rectangle 15379"/>
          <p:cNvSpPr/>
          <p:nvPr/>
        </p:nvSpPr>
        <p:spPr>
          <a:xfrm>
            <a:off x="7306056" y="2121408"/>
            <a:ext cx="1947672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27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1" name="Oval 15380"/>
          <p:cNvSpPr/>
          <p:nvPr/>
        </p:nvSpPr>
        <p:spPr>
          <a:xfrm>
            <a:off x="7379208" y="2240279"/>
            <a:ext cx="347472" cy="347472"/>
          </a:xfrm>
          <a:prstGeom prst="ellipse">
            <a:avLst/>
          </a:prstGeom>
          <a:solidFill>
            <a:srgbClr val="F27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5382" name="TextBox 15381"/>
          <p:cNvSpPr txBox="1"/>
          <p:nvPr/>
        </p:nvSpPr>
        <p:spPr>
          <a:xfrm>
            <a:off x="7781544" y="2212848"/>
            <a:ext cx="1380743" cy="3383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F27012"/>
                </a:solidFill>
                <a:latin typeface="Arial"/>
              </a:rPr>
              <a:t>DISBURSE</a:t>
            </a:r>
          </a:p>
        </p:txBody>
      </p:sp>
      <p:sp>
        <p:nvSpPr>
          <p:cNvPr id="15383" name="TextBox 15382"/>
          <p:cNvSpPr txBox="1"/>
          <p:nvPr/>
        </p:nvSpPr>
        <p:spPr>
          <a:xfrm>
            <a:off x="7415783" y="2606039"/>
            <a:ext cx="1728216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50" b="0">
                <a:solidFill>
                  <a:srgbClr val="233138"/>
                </a:solidFill>
                <a:latin typeface="Arial"/>
              </a:rPr>
              <a:t>Reserve → settle/fail</a:t>
            </a:r>
          </a:p>
        </p:txBody>
      </p:sp>
      <p:sp>
        <p:nvSpPr>
          <p:cNvPr id="15384" name="Right Arrow 15383"/>
          <p:cNvSpPr/>
          <p:nvPr/>
        </p:nvSpPr>
        <p:spPr>
          <a:xfrm>
            <a:off x="9299448" y="2514600"/>
            <a:ext cx="310896" cy="256032"/>
          </a:xfrm>
          <a:prstGeom prst="rightArrow">
            <a:avLst/>
          </a:prstGeom>
          <a:solidFill>
            <a:srgbClr val="4E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5" name="Rounded Rectangle 15384"/>
          <p:cNvSpPr/>
          <p:nvPr/>
        </p:nvSpPr>
        <p:spPr>
          <a:xfrm>
            <a:off x="9573768" y="2121408"/>
            <a:ext cx="1947672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38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6" name="Oval 15385"/>
          <p:cNvSpPr/>
          <p:nvPr/>
        </p:nvSpPr>
        <p:spPr>
          <a:xfrm>
            <a:off x="9646920" y="2240279"/>
            <a:ext cx="347472" cy="347472"/>
          </a:xfrm>
          <a:prstGeom prst="ellipse">
            <a:avLst/>
          </a:prstGeom>
          <a:solidFill>
            <a:srgbClr val="138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5387" name="TextBox 15386"/>
          <p:cNvSpPr txBox="1"/>
          <p:nvPr/>
        </p:nvSpPr>
        <p:spPr>
          <a:xfrm>
            <a:off x="10049256" y="2212848"/>
            <a:ext cx="1380743" cy="3383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138A43"/>
                </a:solidFill>
                <a:latin typeface="Arial"/>
              </a:rPr>
              <a:t>VERIFY</a:t>
            </a:r>
          </a:p>
        </p:txBody>
      </p:sp>
      <p:sp>
        <p:nvSpPr>
          <p:cNvPr id="15388" name="TextBox 15387"/>
          <p:cNvSpPr txBox="1"/>
          <p:nvPr/>
        </p:nvSpPr>
        <p:spPr>
          <a:xfrm>
            <a:off x="9683496" y="2606039"/>
            <a:ext cx="1728216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50" b="0">
                <a:solidFill>
                  <a:srgbClr val="233138"/>
                </a:solidFill>
                <a:latin typeface="Arial"/>
              </a:rPr>
              <a:t>Public • family • audit</a:t>
            </a:r>
          </a:p>
        </p:txBody>
      </p:sp>
      <p:sp>
        <p:nvSpPr>
          <p:cNvPr id="15389" name="Rounded Rectangle 15388"/>
          <p:cNvSpPr/>
          <p:nvPr/>
        </p:nvSpPr>
        <p:spPr>
          <a:xfrm>
            <a:off x="502920" y="3456432"/>
            <a:ext cx="3566160" cy="2148840"/>
          </a:xfrm>
          <a:prstGeom prst="roundRect">
            <a:avLst/>
          </a:prstGeom>
          <a:solidFill>
            <a:srgbClr val="FFF3E6"/>
          </a:solidFill>
          <a:ln w="17780">
            <a:solidFill>
              <a:srgbClr val="F27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0" name="TextBox 15389"/>
          <p:cNvSpPr txBox="1"/>
          <p:nvPr/>
        </p:nvSpPr>
        <p:spPr>
          <a:xfrm>
            <a:off x="640080" y="3566160"/>
            <a:ext cx="329184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F27012"/>
                </a:solidFill>
                <a:latin typeface="Arial"/>
              </a:rPr>
              <a:t>PROBLEM</a:t>
            </a:r>
          </a:p>
        </p:txBody>
      </p:sp>
      <p:sp>
        <p:nvSpPr>
          <p:cNvPr id="15391" name="TextBox 15390"/>
          <p:cNvSpPr txBox="1"/>
          <p:nvPr/>
        </p:nvSpPr>
        <p:spPr>
          <a:xfrm>
            <a:off x="612648" y="3959352"/>
            <a:ext cx="3346704" cy="1554480"/>
          </a:xfrm>
          <a:prstGeom prst="rect">
            <a:avLst/>
          </a:prstGeom>
          <a:noFill/>
        </p:spPr>
        <p:txBody>
          <a:bodyPr wrap="square" lIns="82296" rIns="82296" tIns="54864" bIns="36576">
            <a:normAutofit/>
          </a:bodyPr>
          <a:lstStyle/>
          <a:p>
            <a:pPr algn="l">
              <a:spcAft>
                <a:spcPts val="507"/>
              </a:spcAft>
            </a:pPr>
            <a:r>
              <a:rPr sz="1150" b="0">
                <a:solidFill>
                  <a:srgbClr val="233138"/>
                </a:solidFill>
                <a:latin typeface="Arial"/>
              </a:rPr>
              <a:t>• Funds cross many opaque accounts</a:t>
            </a:r>
          </a:p>
          <a:p>
            <a:pPr algn="l">
              <a:spcAft>
                <a:spcPts val="507"/>
              </a:spcAft>
            </a:pPr>
            <a:r>
              <a:rPr sz="1150" b="0">
                <a:solidFill>
                  <a:srgbClr val="233138"/>
                </a:solidFill>
                <a:latin typeface="Arial"/>
              </a:rPr>
              <a:t>• Families cannot verify promised aid</a:t>
            </a:r>
          </a:p>
          <a:p>
            <a:pPr algn="l">
              <a:spcAft>
                <a:spcPts val="507"/>
              </a:spcAft>
            </a:pPr>
            <a:r>
              <a:rPr sz="1150" b="0">
                <a:solidFill>
                  <a:srgbClr val="233138"/>
                </a:solidFill>
                <a:latin typeface="Arial"/>
              </a:rPr>
              <a:t>• Audits are slow and paper-heavy</a:t>
            </a:r>
          </a:p>
        </p:txBody>
      </p:sp>
      <p:sp>
        <p:nvSpPr>
          <p:cNvPr id="15392" name="Rounded Rectangle 15391"/>
          <p:cNvSpPr/>
          <p:nvPr/>
        </p:nvSpPr>
        <p:spPr>
          <a:xfrm>
            <a:off x="4315968" y="3456432"/>
            <a:ext cx="3566160" cy="2148840"/>
          </a:xfrm>
          <a:prstGeom prst="roundRect">
            <a:avLst/>
          </a:prstGeom>
          <a:solidFill>
            <a:srgbClr val="EAF6EE"/>
          </a:solidFill>
          <a:ln w="17780">
            <a:solidFill>
              <a:srgbClr val="138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3" name="TextBox 15392"/>
          <p:cNvSpPr txBox="1"/>
          <p:nvPr/>
        </p:nvSpPr>
        <p:spPr>
          <a:xfrm>
            <a:off x="4453128" y="3566160"/>
            <a:ext cx="329184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138A43"/>
                </a:solidFill>
                <a:latin typeface="Arial"/>
              </a:rPr>
              <a:t>SOLUTION</a:t>
            </a:r>
          </a:p>
        </p:txBody>
      </p:sp>
      <p:sp>
        <p:nvSpPr>
          <p:cNvPr id="15394" name="TextBox 15393"/>
          <p:cNvSpPr txBox="1"/>
          <p:nvPr/>
        </p:nvSpPr>
        <p:spPr>
          <a:xfrm>
            <a:off x="4425696" y="3959352"/>
            <a:ext cx="3346704" cy="1554480"/>
          </a:xfrm>
          <a:prstGeom prst="rect">
            <a:avLst/>
          </a:prstGeom>
          <a:noFill/>
        </p:spPr>
        <p:txBody>
          <a:bodyPr wrap="square" lIns="82296" rIns="82296" tIns="54864" bIns="36576">
            <a:normAutofit/>
          </a:bodyPr>
          <a:lstStyle/>
          <a:p>
            <a:pPr algn="l">
              <a:spcAft>
                <a:spcPts val="507"/>
              </a:spcAft>
            </a:pPr>
            <a:r>
              <a:rPr sz="1150" b="0">
                <a:solidFill>
                  <a:srgbClr val="233138"/>
                </a:solidFill>
                <a:latin typeface="Arial"/>
              </a:rPr>
              <a:t>• Fabric records accepted fund transitions</a:t>
            </a:r>
          </a:p>
          <a:p>
            <a:pPr algn="l">
              <a:spcAft>
                <a:spcPts val="507"/>
              </a:spcAft>
            </a:pPr>
            <a:r>
              <a:rPr sz="1150" b="0">
                <a:solidFill>
                  <a:srgbClr val="233138"/>
                </a:solidFill>
                <a:latin typeface="Arial"/>
              </a:rPr>
              <a:t>• Role-specific API views preserve privacy</a:t>
            </a:r>
          </a:p>
          <a:p>
            <a:pPr algn="l">
              <a:spcAft>
                <a:spcPts val="507"/>
              </a:spcAft>
            </a:pPr>
            <a:r>
              <a:rPr sz="1150" b="0">
                <a:solidFill>
                  <a:srgbClr val="233138"/>
                </a:solidFill>
                <a:latin typeface="Arial"/>
              </a:rPr>
              <a:t>• Committed events drive reconciliation</a:t>
            </a:r>
          </a:p>
        </p:txBody>
      </p:sp>
      <p:sp>
        <p:nvSpPr>
          <p:cNvPr id="15395" name="Rounded Rectangle 15394"/>
          <p:cNvSpPr/>
          <p:nvPr/>
        </p:nvSpPr>
        <p:spPr>
          <a:xfrm>
            <a:off x="8129016" y="3456432"/>
            <a:ext cx="3566160" cy="2148840"/>
          </a:xfrm>
          <a:prstGeom prst="roundRect">
            <a:avLst/>
          </a:prstGeom>
          <a:solidFill>
            <a:srgbClr val="EBF2F6"/>
          </a:solidFill>
          <a:ln w="17780">
            <a:solidFill>
              <a:srgbClr val="4E6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6" name="TextBox 15395"/>
          <p:cNvSpPr txBox="1"/>
          <p:nvPr/>
        </p:nvSpPr>
        <p:spPr>
          <a:xfrm>
            <a:off x="8266176" y="3566160"/>
            <a:ext cx="329184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4E626C"/>
                </a:solidFill>
                <a:latin typeface="Arial"/>
              </a:rPr>
              <a:t>UNIQUE VALUE</a:t>
            </a:r>
          </a:p>
        </p:txBody>
      </p:sp>
      <p:sp>
        <p:nvSpPr>
          <p:cNvPr id="15397" name="TextBox 15396"/>
          <p:cNvSpPr txBox="1"/>
          <p:nvPr/>
        </p:nvSpPr>
        <p:spPr>
          <a:xfrm>
            <a:off x="8238744" y="3959352"/>
            <a:ext cx="3346704" cy="1554480"/>
          </a:xfrm>
          <a:prstGeom prst="rect">
            <a:avLst/>
          </a:prstGeom>
          <a:noFill/>
        </p:spPr>
        <p:txBody>
          <a:bodyPr wrap="square" lIns="82296" rIns="82296" tIns="54864" bIns="36576">
            <a:normAutofit/>
          </a:bodyPr>
          <a:lstStyle/>
          <a:p>
            <a:pPr algn="l">
              <a:spcAft>
                <a:spcPts val="507"/>
              </a:spcAft>
            </a:pPr>
            <a:r>
              <a:rPr sz="1150" b="0">
                <a:solidFill>
                  <a:srgbClr val="233138"/>
                </a:solidFill>
                <a:latin typeface="Arial"/>
              </a:rPr>
              <a:t>• Trust shifts from a claim to shared evidence</a:t>
            </a:r>
          </a:p>
          <a:p>
            <a:pPr algn="l">
              <a:spcAft>
                <a:spcPts val="507"/>
              </a:spcAft>
            </a:pPr>
            <a:r>
              <a:rPr sz="1150" b="0">
                <a:solidFill>
                  <a:srgbClr val="233138"/>
                </a:solidFill>
                <a:latin typeface="Arial"/>
              </a:rPr>
              <a:t>• Public proof without public beneficiary identity</a:t>
            </a:r>
          </a:p>
          <a:p>
            <a:pPr algn="l">
              <a:spcAft>
                <a:spcPts val="507"/>
              </a:spcAft>
            </a:pPr>
            <a:r>
              <a:rPr sz="1150" b="0">
                <a:solidFill>
                  <a:srgbClr val="233138"/>
                </a:solidFill>
                <a:latin typeface="Arial"/>
              </a:rPr>
              <a:t>• Ledger–database mismatch becomes detectable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233138"/>
                </a:solidFill>
                <a:latin typeface="Arial"/>
              </a:rPr>
              <a:t>RELIEFCHAIN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548640" y="1161288"/>
            <a:ext cx="1508760" cy="347472"/>
          </a:xfrm>
          <a:prstGeom prst="roundRect">
            <a:avLst/>
          </a:prstGeom>
          <a:solidFill>
            <a:srgbClr val="F27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Next.js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2203703" y="1161288"/>
            <a:ext cx="1508760" cy="347472"/>
          </a:xfrm>
          <a:prstGeom prst="roundRect">
            <a:avLst/>
          </a:prstGeom>
          <a:solidFill>
            <a:srgbClr val="138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Flutter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3858768" y="1161288"/>
            <a:ext cx="1508760" cy="347472"/>
          </a:xfrm>
          <a:prstGeom prst="roundRect">
            <a:avLst/>
          </a:prstGeom>
          <a:solidFill>
            <a:srgbClr val="4E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NestJS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5513831" y="1161288"/>
            <a:ext cx="1508760" cy="347472"/>
          </a:xfrm>
          <a:prstGeom prst="roundRect">
            <a:avLst/>
          </a:prstGeom>
          <a:solidFill>
            <a:srgbClr val="4E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PostgreSQL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7168895" y="1161288"/>
            <a:ext cx="2057400" cy="347472"/>
          </a:xfrm>
          <a:prstGeom prst="roundRect">
            <a:avLst/>
          </a:prstGeom>
          <a:solidFill>
            <a:srgbClr val="138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Hyperledger Fabric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9372600" y="1161288"/>
            <a:ext cx="1508760" cy="347472"/>
          </a:xfrm>
          <a:prstGeom prst="roundRect">
            <a:avLst/>
          </a:prstGeom>
          <a:solidFill>
            <a:srgbClr val="F27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Docker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640080" y="1572768"/>
            <a:ext cx="1078992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50" b="1">
                <a:solidFill>
                  <a:srgbClr val="4E626C"/>
                </a:solidFill>
                <a:latin typeface="Arial"/>
              </a:rPr>
              <a:t>TECHNOLOGIES USED  •  METHODOLOGY &amp; IMPLEMENTATION FLOW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502920" y="1847088"/>
            <a:ext cx="1993392" cy="25420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27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TextBox 17417"/>
          <p:cNvSpPr txBox="1"/>
          <p:nvPr/>
        </p:nvSpPr>
        <p:spPr>
          <a:xfrm>
            <a:off x="594360" y="1984248"/>
            <a:ext cx="1810512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F27012"/>
                </a:solidFill>
                <a:latin typeface="Arial"/>
              </a:rPr>
              <a:t>ACTORS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612648" y="2423160"/>
            <a:ext cx="1773936" cy="1737360"/>
          </a:xfrm>
          <a:prstGeom prst="rect">
            <a:avLst/>
          </a:prstGeom>
          <a:noFill/>
        </p:spPr>
        <p:txBody>
          <a:bodyPr wrap="square" lIns="82296" rIns="82296" tIns="54864" bIns="36576">
            <a:normAutofit/>
          </a:bodyPr>
          <a:lstStyle/>
          <a:p>
            <a:pPr algn="l">
              <a:spcAft>
                <a:spcPts val="463"/>
              </a:spcAft>
            </a:pPr>
            <a:r>
              <a:rPr sz="1050" b="0">
                <a:solidFill>
                  <a:srgbClr val="233138"/>
                </a:solidFill>
                <a:latin typeface="Arial"/>
              </a:rPr>
              <a:t>• Public dashboard</a:t>
            </a:r>
          </a:p>
          <a:p>
            <a:pPr algn="l">
              <a:spcAft>
                <a:spcPts val="463"/>
              </a:spcAft>
            </a:pPr>
            <a:r>
              <a:rPr sz="1050" b="0">
                <a:solidFill>
                  <a:srgbClr val="233138"/>
                </a:solidFill>
                <a:latin typeface="Arial"/>
              </a:rPr>
              <a:t>• Operator portal</a:t>
            </a:r>
          </a:p>
          <a:p>
            <a:pPr algn="l">
              <a:spcAft>
                <a:spcPts val="463"/>
              </a:spcAft>
            </a:pPr>
            <a:r>
              <a:rPr sz="1050" b="0">
                <a:solidFill>
                  <a:srgbClr val="233138"/>
                </a:solidFill>
                <a:latin typeface="Arial"/>
              </a:rPr>
              <a:t>• Beneficiary mobile</a:t>
            </a:r>
          </a:p>
          <a:p>
            <a:pPr algn="l">
              <a:spcAft>
                <a:spcPts val="463"/>
              </a:spcAft>
            </a:pPr>
            <a:r>
              <a:rPr sz="1050" b="0">
                <a:solidFill>
                  <a:srgbClr val="233138"/>
                </a:solidFill>
                <a:latin typeface="Arial"/>
              </a:rPr>
              <a:t>• Auditor API</a:t>
            </a:r>
          </a:p>
        </p:txBody>
      </p:sp>
      <p:sp>
        <p:nvSpPr>
          <p:cNvPr id="17420" name="Right Arrow 17419"/>
          <p:cNvSpPr/>
          <p:nvPr/>
        </p:nvSpPr>
        <p:spPr>
          <a:xfrm>
            <a:off x="2542032" y="2907792"/>
            <a:ext cx="310896" cy="256032"/>
          </a:xfrm>
          <a:prstGeom prst="rightArrow">
            <a:avLst/>
          </a:prstGeom>
          <a:solidFill>
            <a:srgbClr val="4E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Rounded Rectangle 17420"/>
          <p:cNvSpPr/>
          <p:nvPr/>
        </p:nvSpPr>
        <p:spPr>
          <a:xfrm>
            <a:off x="2816352" y="1847088"/>
            <a:ext cx="1993392" cy="25420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E6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2" name="TextBox 17421"/>
          <p:cNvSpPr txBox="1"/>
          <p:nvPr/>
        </p:nvSpPr>
        <p:spPr>
          <a:xfrm>
            <a:off x="2907792" y="1984248"/>
            <a:ext cx="1810512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4E626C"/>
                </a:solidFill>
                <a:latin typeface="Arial"/>
              </a:rPr>
              <a:t>API CONTROL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2926080" y="2423160"/>
            <a:ext cx="1773936" cy="1737360"/>
          </a:xfrm>
          <a:prstGeom prst="rect">
            <a:avLst/>
          </a:prstGeom>
          <a:noFill/>
        </p:spPr>
        <p:txBody>
          <a:bodyPr wrap="square" lIns="82296" rIns="82296" tIns="54864" bIns="36576">
            <a:normAutofit/>
          </a:bodyPr>
          <a:lstStyle/>
          <a:p>
            <a:pPr algn="l">
              <a:spcAft>
                <a:spcPts val="463"/>
              </a:spcAft>
            </a:pPr>
            <a:r>
              <a:rPr sz="1050" b="0">
                <a:solidFill>
                  <a:srgbClr val="233138"/>
                </a:solidFill>
                <a:latin typeface="Arial"/>
              </a:rPr>
              <a:t>• JWT + RBAC</a:t>
            </a:r>
          </a:p>
          <a:p>
            <a:pPr algn="l">
              <a:spcAft>
                <a:spcPts val="463"/>
              </a:spcAft>
            </a:pPr>
            <a:r>
              <a:rPr sz="1050" b="0">
                <a:solidFill>
                  <a:srgbClr val="233138"/>
                </a:solidFill>
                <a:latin typeface="Arial"/>
              </a:rPr>
              <a:t>• Org ownership</a:t>
            </a:r>
          </a:p>
          <a:p>
            <a:pPr algn="l">
              <a:spcAft>
                <a:spcPts val="463"/>
              </a:spcAft>
            </a:pPr>
            <a:r>
              <a:rPr sz="1050" b="0">
                <a:solidFill>
                  <a:srgbClr val="233138"/>
                </a:solidFill>
                <a:latin typeface="Arial"/>
              </a:rPr>
              <a:t>• Eligibility + balances</a:t>
            </a:r>
          </a:p>
          <a:p>
            <a:pPr algn="l">
              <a:spcAft>
                <a:spcPts val="463"/>
              </a:spcAft>
            </a:pPr>
            <a:r>
              <a:rPr sz="1050" b="0">
                <a:solidFill>
                  <a:srgbClr val="233138"/>
                </a:solidFill>
                <a:latin typeface="Arial"/>
              </a:rPr>
              <a:t>• Idempotency</a:t>
            </a:r>
          </a:p>
        </p:txBody>
      </p:sp>
      <p:sp>
        <p:nvSpPr>
          <p:cNvPr id="17424" name="Right Arrow 17423"/>
          <p:cNvSpPr/>
          <p:nvPr/>
        </p:nvSpPr>
        <p:spPr>
          <a:xfrm>
            <a:off x="4855464" y="2907792"/>
            <a:ext cx="310896" cy="256032"/>
          </a:xfrm>
          <a:prstGeom prst="rightArrow">
            <a:avLst/>
          </a:prstGeom>
          <a:solidFill>
            <a:srgbClr val="4E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5" name="Rounded Rectangle 17424"/>
          <p:cNvSpPr/>
          <p:nvPr/>
        </p:nvSpPr>
        <p:spPr>
          <a:xfrm>
            <a:off x="5129783" y="1847088"/>
            <a:ext cx="1993392" cy="25420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38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6" name="TextBox 17425"/>
          <p:cNvSpPr txBox="1"/>
          <p:nvPr/>
        </p:nvSpPr>
        <p:spPr>
          <a:xfrm>
            <a:off x="5221223" y="1984248"/>
            <a:ext cx="1810512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38A43"/>
                </a:solidFill>
                <a:latin typeface="Arial"/>
              </a:rPr>
              <a:t>PRIVACY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5239512" y="2423160"/>
            <a:ext cx="1773936" cy="1737360"/>
          </a:xfrm>
          <a:prstGeom prst="rect">
            <a:avLst/>
          </a:prstGeom>
          <a:noFill/>
        </p:spPr>
        <p:txBody>
          <a:bodyPr wrap="square" lIns="82296" rIns="82296" tIns="54864" bIns="36576">
            <a:normAutofit/>
          </a:bodyPr>
          <a:lstStyle/>
          <a:p>
            <a:pPr algn="l">
              <a:spcAft>
                <a:spcPts val="463"/>
              </a:spcAft>
            </a:pPr>
            <a:r>
              <a:rPr sz="1050" b="0">
                <a:solidFill>
                  <a:srgbClr val="233138"/>
                </a:solidFill>
                <a:latin typeface="Arial"/>
              </a:rPr>
              <a:t>• HMAC identifier</a:t>
            </a:r>
          </a:p>
          <a:p>
            <a:pPr algn="l">
              <a:spcAft>
                <a:spcPts val="463"/>
              </a:spcAft>
            </a:pPr>
            <a:r>
              <a:rPr sz="1050" b="0">
                <a:solidFill>
                  <a:srgbClr val="233138"/>
                </a:solidFill>
                <a:latin typeface="Arial"/>
              </a:rPr>
              <a:t>• AES-GCM contacts</a:t>
            </a:r>
          </a:p>
          <a:p>
            <a:pPr algn="l">
              <a:spcAft>
                <a:spcPts val="463"/>
              </a:spcAft>
            </a:pPr>
            <a:r>
              <a:rPr sz="1050" b="0">
                <a:solidFill>
                  <a:srgbClr val="233138"/>
                </a:solidFill>
                <a:latin typeface="Arial"/>
              </a:rPr>
              <a:t>• Hashed phone</a:t>
            </a:r>
          </a:p>
          <a:p>
            <a:pPr algn="l">
              <a:spcAft>
                <a:spcPts val="463"/>
              </a:spcAft>
            </a:pPr>
            <a:r>
              <a:rPr sz="1050" b="0">
                <a:solidFill>
                  <a:srgbClr val="233138"/>
                </a:solidFill>
                <a:latin typeface="Arial"/>
              </a:rPr>
              <a:t>• Allowlisted events</a:t>
            </a:r>
          </a:p>
        </p:txBody>
      </p:sp>
      <p:sp>
        <p:nvSpPr>
          <p:cNvPr id="17428" name="Right Arrow 17427"/>
          <p:cNvSpPr/>
          <p:nvPr/>
        </p:nvSpPr>
        <p:spPr>
          <a:xfrm>
            <a:off x="7168896" y="2907792"/>
            <a:ext cx="310896" cy="256032"/>
          </a:xfrm>
          <a:prstGeom prst="rightArrow">
            <a:avLst/>
          </a:prstGeom>
          <a:solidFill>
            <a:srgbClr val="4E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9" name="Rounded Rectangle 17428"/>
          <p:cNvSpPr/>
          <p:nvPr/>
        </p:nvSpPr>
        <p:spPr>
          <a:xfrm>
            <a:off x="7443215" y="1847088"/>
            <a:ext cx="1993392" cy="25420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27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0" name="TextBox 17429"/>
          <p:cNvSpPr txBox="1"/>
          <p:nvPr/>
        </p:nvSpPr>
        <p:spPr>
          <a:xfrm>
            <a:off x="7534655" y="1984248"/>
            <a:ext cx="1810512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F27012"/>
                </a:solidFill>
                <a:latin typeface="Arial"/>
              </a:rPr>
              <a:t>LEDGER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7552943" y="2423160"/>
            <a:ext cx="1773936" cy="1737360"/>
          </a:xfrm>
          <a:prstGeom prst="rect">
            <a:avLst/>
          </a:prstGeom>
          <a:noFill/>
        </p:spPr>
        <p:txBody>
          <a:bodyPr wrap="square" lIns="82296" rIns="82296" tIns="54864" bIns="36576">
            <a:normAutofit/>
          </a:bodyPr>
          <a:lstStyle/>
          <a:p>
            <a:pPr algn="l">
              <a:spcAft>
                <a:spcPts val="463"/>
              </a:spcAft>
            </a:pPr>
            <a:r>
              <a:rPr sz="1050" b="0">
                <a:solidFill>
                  <a:srgbClr val="233138"/>
                </a:solidFill>
                <a:latin typeface="Arial"/>
              </a:rPr>
              <a:t>• 8 Fabric v1 writes</a:t>
            </a:r>
          </a:p>
          <a:p>
            <a:pPr algn="l">
              <a:spcAft>
                <a:spcPts val="463"/>
              </a:spcAft>
            </a:pPr>
            <a:r>
              <a:rPr sz="1050" b="0">
                <a:solidFill>
                  <a:srgbClr val="233138"/>
                </a:solidFill>
                <a:latin typeface="Arial"/>
              </a:rPr>
              <a:t>• Stable error codes</a:t>
            </a:r>
          </a:p>
          <a:p>
            <a:pPr algn="l">
              <a:spcAft>
                <a:spcPts val="463"/>
              </a:spcAft>
            </a:pPr>
            <a:r>
              <a:rPr sz="1050" b="0">
                <a:solidFill>
                  <a:srgbClr val="233138"/>
                </a:solidFill>
                <a:latin typeface="Arial"/>
              </a:rPr>
              <a:t>• Signed MSP actor</a:t>
            </a:r>
          </a:p>
          <a:p>
            <a:pPr algn="l">
              <a:spcAft>
                <a:spcPts val="463"/>
              </a:spcAft>
            </a:pPr>
            <a:r>
              <a:rPr sz="1050" b="0">
                <a:solidFill>
                  <a:srgbClr val="233138"/>
                </a:solidFill>
                <a:latin typeface="Arial"/>
              </a:rPr>
              <a:t>• ReadAsset + history</a:t>
            </a:r>
          </a:p>
        </p:txBody>
      </p:sp>
      <p:sp>
        <p:nvSpPr>
          <p:cNvPr id="17432" name="Right Arrow 17431"/>
          <p:cNvSpPr/>
          <p:nvPr/>
        </p:nvSpPr>
        <p:spPr>
          <a:xfrm>
            <a:off x="9482328" y="2907792"/>
            <a:ext cx="310896" cy="256032"/>
          </a:xfrm>
          <a:prstGeom prst="rightArrow">
            <a:avLst/>
          </a:prstGeom>
          <a:solidFill>
            <a:srgbClr val="4E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3" name="Rounded Rectangle 17432"/>
          <p:cNvSpPr/>
          <p:nvPr/>
        </p:nvSpPr>
        <p:spPr>
          <a:xfrm>
            <a:off x="9756647" y="1847088"/>
            <a:ext cx="1993392" cy="25420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38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4" name="TextBox 17433"/>
          <p:cNvSpPr txBox="1"/>
          <p:nvPr/>
        </p:nvSpPr>
        <p:spPr>
          <a:xfrm>
            <a:off x="9848087" y="1984248"/>
            <a:ext cx="1810512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38A43"/>
                </a:solidFill>
                <a:latin typeface="Arial"/>
              </a:rPr>
              <a:t>EVIDENCE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9866375" y="2423160"/>
            <a:ext cx="1773936" cy="1737360"/>
          </a:xfrm>
          <a:prstGeom prst="rect">
            <a:avLst/>
          </a:prstGeom>
          <a:noFill/>
        </p:spPr>
        <p:txBody>
          <a:bodyPr wrap="square" lIns="82296" rIns="82296" tIns="54864" bIns="36576">
            <a:normAutofit/>
          </a:bodyPr>
          <a:lstStyle/>
          <a:p>
            <a:pPr algn="l">
              <a:spcAft>
                <a:spcPts val="463"/>
              </a:spcAft>
            </a:pPr>
            <a:r>
              <a:rPr sz="1050" b="0">
                <a:solidFill>
                  <a:srgbClr val="233138"/>
                </a:solidFill>
                <a:latin typeface="Arial"/>
              </a:rPr>
              <a:t>• Committed indexer</a:t>
            </a:r>
          </a:p>
          <a:p>
            <a:pPr algn="l">
              <a:spcAft>
                <a:spcPts val="463"/>
              </a:spcAft>
            </a:pPr>
            <a:r>
              <a:rPr sz="1050" b="0">
                <a:solidFill>
                  <a:srgbClr val="233138"/>
                </a:solidFill>
                <a:latin typeface="Arial"/>
              </a:rPr>
              <a:t>• Public proof</a:t>
            </a:r>
          </a:p>
          <a:p>
            <a:pPr algn="l">
              <a:spcAft>
                <a:spcPts val="463"/>
              </a:spcAft>
            </a:pPr>
            <a:r>
              <a:rPr sz="1050" b="0">
                <a:solidFill>
                  <a:srgbClr val="233138"/>
                </a:solidFill>
                <a:latin typeface="Arial"/>
              </a:rPr>
              <a:t>• Reconciliation</a:t>
            </a:r>
          </a:p>
          <a:p>
            <a:pPr algn="l">
              <a:spcAft>
                <a:spcPts val="463"/>
              </a:spcAft>
            </a:pPr>
            <a:r>
              <a:rPr sz="1050" b="0">
                <a:solidFill>
                  <a:srgbClr val="233138"/>
                </a:solidFill>
                <a:latin typeface="Arial"/>
              </a:rPr>
              <a:t>• CSV / JSON trail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658368" y="4645152"/>
            <a:ext cx="108813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4E626C"/>
                </a:solidFill>
                <a:latin typeface="Arial"/>
              </a:rPr>
              <a:t>PRIVATE OPERATIONS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658368" y="4983480"/>
            <a:ext cx="5193792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50" b="1">
                <a:solidFill>
                  <a:srgbClr val="4E626C"/>
                </a:solidFill>
                <a:latin typeface="Arial"/>
              </a:rPr>
              <a:t>PostgreSQL
Encrypted PII • sessions • jobs • attempts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6071616" y="4983480"/>
            <a:ext cx="5193792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50" b="1">
                <a:solidFill>
                  <a:srgbClr val="138A43"/>
                </a:solidFill>
                <a:latin typeface="Arial"/>
              </a:rPr>
              <a:t>FABRIC CHANNEL
Tamper-evident state • timestamped safe events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233138"/>
                </a:solidFill>
                <a:latin typeface="Arial"/>
              </a:rPr>
              <a:t>RELIEFCHAIN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640080" y="960120"/>
            <a:ext cx="1078992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50" b="1">
                <a:solidFill>
                  <a:srgbClr val="4E626C"/>
                </a:solidFill>
                <a:latin typeface="Arial"/>
              </a:rPr>
              <a:t>FEASIBILITY ANALYSIS  •  POTENTIAL RISKS  •  MITIGATION STRATEGIES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548640" y="1207008"/>
            <a:ext cx="3383280" cy="3493008"/>
          </a:xfrm>
          <a:prstGeom prst="roundRect">
            <a:avLst/>
          </a:prstGeom>
          <a:solidFill>
            <a:srgbClr val="EAF6EE"/>
          </a:solidFill>
          <a:ln w="17780">
            <a:solidFill>
              <a:srgbClr val="138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685800" y="1316736"/>
            <a:ext cx="31089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138A43"/>
                </a:solidFill>
                <a:latin typeface="Arial"/>
              </a:rPr>
              <a:t>FEASIBLE NOW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658368" y="1709928"/>
            <a:ext cx="3163824" cy="2898648"/>
          </a:xfrm>
          <a:prstGeom prst="rect">
            <a:avLst/>
          </a:prstGeom>
          <a:noFill/>
        </p:spPr>
        <p:txBody>
          <a:bodyPr wrap="square" lIns="82296" rIns="82296" tIns="54864" bIns="36576">
            <a:normAutofit/>
          </a:bodyPr>
          <a:lstStyle/>
          <a:p>
            <a:pPr algn="l">
              <a:spcAft>
                <a:spcPts val="485"/>
              </a:spcAft>
            </a:pPr>
            <a:r>
              <a:rPr sz="1100" b="0">
                <a:solidFill>
                  <a:srgbClr val="233138"/>
                </a:solidFill>
                <a:latin typeface="Arial"/>
              </a:rPr>
              <a:t>• Working NestJS + PostgreSQL backend</a:t>
            </a:r>
          </a:p>
          <a:p>
            <a:pPr algn="l">
              <a:spcAft>
                <a:spcPts val="485"/>
              </a:spcAft>
            </a:pPr>
            <a:r>
              <a:rPr sz="1100" b="0">
                <a:solidFill>
                  <a:srgbClr val="233138"/>
                </a:solidFill>
                <a:latin typeface="Arial"/>
              </a:rPr>
              <a:t>• 3-org Fabric network and deployed chaincode</a:t>
            </a:r>
          </a:p>
          <a:p>
            <a:pPr algn="l">
              <a:spcAft>
                <a:spcPts val="485"/>
              </a:spcAft>
            </a:pPr>
            <a:r>
              <a:rPr sz="1100" b="0">
                <a:solidFill>
                  <a:srgbClr val="233138"/>
                </a:solidFill>
                <a:latin typeface="Arial"/>
              </a:rPr>
              <a:t>• Restart-safe demo seed and payout worker</a:t>
            </a:r>
          </a:p>
          <a:p>
            <a:pPr algn="l">
              <a:spcAft>
                <a:spcPts val="485"/>
              </a:spcAft>
            </a:pPr>
            <a:r>
              <a:rPr sz="1100" b="0">
                <a:solidFill>
                  <a:srgbClr val="233138"/>
                </a:solidFill>
                <a:latin typeface="Arial"/>
              </a:rPr>
              <a:t>• Health, readiness, audit and proof APIs</a:t>
            </a:r>
          </a:p>
          <a:p>
            <a:pPr algn="l">
              <a:spcAft>
                <a:spcPts val="485"/>
              </a:spcAft>
            </a:pPr>
            <a:r>
              <a:rPr sz="1100" b="0">
                <a:solidFill>
                  <a:srgbClr val="233138"/>
                </a:solidFill>
                <a:latin typeface="Arial"/>
              </a:rPr>
              <a:t>• Contract, privacy and invariant test suites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4160520" y="1207008"/>
            <a:ext cx="3383280" cy="3493008"/>
          </a:xfrm>
          <a:prstGeom prst="roundRect">
            <a:avLst/>
          </a:prstGeom>
          <a:solidFill>
            <a:srgbClr val="FFF3E6"/>
          </a:solidFill>
          <a:ln w="17780">
            <a:solidFill>
              <a:srgbClr val="F27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TextBox 17414"/>
          <p:cNvSpPr txBox="1"/>
          <p:nvPr/>
        </p:nvSpPr>
        <p:spPr>
          <a:xfrm>
            <a:off x="4297680" y="1316736"/>
            <a:ext cx="31089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F27012"/>
                </a:solidFill>
                <a:latin typeface="Arial"/>
              </a:rPr>
              <a:t>KEY RISKS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4270248" y="1709928"/>
            <a:ext cx="3163824" cy="2898648"/>
          </a:xfrm>
          <a:prstGeom prst="rect">
            <a:avLst/>
          </a:prstGeom>
          <a:noFill/>
        </p:spPr>
        <p:txBody>
          <a:bodyPr wrap="square" lIns="82296" rIns="82296" tIns="54864" bIns="36576">
            <a:normAutofit/>
          </a:bodyPr>
          <a:lstStyle/>
          <a:p>
            <a:pPr algn="l">
              <a:spcAft>
                <a:spcPts val="485"/>
              </a:spcAft>
            </a:pPr>
            <a:r>
              <a:rPr sz="1100" b="0">
                <a:solidFill>
                  <a:srgbClr val="233138"/>
                </a:solidFill>
                <a:latin typeface="Arial"/>
              </a:rPr>
              <a:t>• Garbage-in: ledger cannot verify field truth</a:t>
            </a:r>
          </a:p>
          <a:p>
            <a:pPr algn="l">
              <a:spcAft>
                <a:spcPts val="485"/>
              </a:spcAft>
            </a:pPr>
            <a:r>
              <a:rPr sz="1100" b="0">
                <a:solidFill>
                  <a:srgbClr val="233138"/>
                </a:solidFill>
                <a:latin typeface="Arial"/>
              </a:rPr>
              <a:t>• Single-host peers are not institutionally independent</a:t>
            </a:r>
          </a:p>
          <a:p>
            <a:pPr algn="l">
              <a:spcAft>
                <a:spcPts val="485"/>
              </a:spcAft>
            </a:pPr>
            <a:r>
              <a:rPr sz="1100" b="0">
                <a:solidFill>
                  <a:srgbClr val="233138"/>
                </a:solidFill>
                <a:latin typeface="Arial"/>
              </a:rPr>
              <a:t>• Identity, OTP and payout providers are simulated</a:t>
            </a:r>
          </a:p>
          <a:p>
            <a:pPr algn="l">
              <a:spcAft>
                <a:spcPts val="485"/>
              </a:spcAft>
            </a:pPr>
            <a:r>
              <a:rPr sz="1100" b="0">
                <a:solidFill>
                  <a:srgbClr val="233138"/>
                </a:solidFill>
                <a:latin typeface="Arial"/>
              </a:rPr>
              <a:t>• Ledger commit and DB write are not one ACID action</a:t>
            </a:r>
          </a:p>
          <a:p>
            <a:pPr algn="l">
              <a:spcAft>
                <a:spcPts val="485"/>
              </a:spcAft>
            </a:pPr>
            <a:r>
              <a:rPr sz="1100" b="0">
                <a:solidFill>
                  <a:srgbClr val="233138"/>
                </a:solidFill>
                <a:latin typeface="Arial"/>
              </a:rPr>
              <a:t>• Key custody and certificate rotation need hardening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7772400" y="1207008"/>
            <a:ext cx="3383280" cy="3493008"/>
          </a:xfrm>
          <a:prstGeom prst="roundRect">
            <a:avLst/>
          </a:prstGeom>
          <a:solidFill>
            <a:srgbClr val="EBF2F6"/>
          </a:solidFill>
          <a:ln w="17780">
            <a:solidFill>
              <a:srgbClr val="4E6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TextBox 17417"/>
          <p:cNvSpPr txBox="1"/>
          <p:nvPr/>
        </p:nvSpPr>
        <p:spPr>
          <a:xfrm>
            <a:off x="7909560" y="1316736"/>
            <a:ext cx="31089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4E626C"/>
                </a:solidFill>
                <a:latin typeface="Arial"/>
              </a:rPr>
              <a:t>MITIGATION PATH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7882127" y="1709928"/>
            <a:ext cx="3163824" cy="2898648"/>
          </a:xfrm>
          <a:prstGeom prst="rect">
            <a:avLst/>
          </a:prstGeom>
          <a:noFill/>
        </p:spPr>
        <p:txBody>
          <a:bodyPr wrap="square" lIns="82296" rIns="82296" tIns="54864" bIns="36576">
            <a:normAutofit/>
          </a:bodyPr>
          <a:lstStyle/>
          <a:p>
            <a:pPr algn="l">
              <a:spcAft>
                <a:spcPts val="485"/>
              </a:spcAft>
            </a:pPr>
            <a:r>
              <a:rPr sz="1100" b="0">
                <a:solidFill>
                  <a:srgbClr val="233138"/>
                </a:solidFill>
                <a:latin typeface="Arial"/>
              </a:rPr>
              <a:t>• Regulated UIDAI/payment-provider attestations</a:t>
            </a:r>
          </a:p>
          <a:p>
            <a:pPr algn="l">
              <a:spcAft>
                <a:spcPts val="485"/>
              </a:spcAft>
            </a:pPr>
            <a:r>
              <a:rPr sz="1100" b="0">
                <a:solidFill>
                  <a:srgbClr val="233138"/>
                </a:solidFill>
                <a:latin typeface="Arial"/>
              </a:rPr>
              <a:t>• Independent peers + multi-org endorsement</a:t>
            </a:r>
          </a:p>
          <a:p>
            <a:pPr algn="l">
              <a:spcAft>
                <a:spcPts val="485"/>
              </a:spcAft>
            </a:pPr>
            <a:r>
              <a:rPr sz="1100" b="0">
                <a:solidFill>
                  <a:srgbClr val="233138"/>
                </a:solidFill>
                <a:latin typeface="Arial"/>
              </a:rPr>
              <a:t>• Outbox/recovery and projection reconciliation</a:t>
            </a:r>
          </a:p>
          <a:p>
            <a:pPr algn="l">
              <a:spcAft>
                <a:spcPts val="485"/>
              </a:spcAft>
            </a:pPr>
            <a:r>
              <a:rPr sz="1100" b="0">
                <a:solidFill>
                  <a:srgbClr val="233138"/>
                </a:solidFill>
                <a:latin typeface="Arial"/>
              </a:rPr>
              <a:t>• HSM-backed keys + Fabric CA lifecycle</a:t>
            </a:r>
          </a:p>
          <a:p>
            <a:pPr algn="l">
              <a:spcAft>
                <a:spcPts val="485"/>
              </a:spcAft>
            </a:pPr>
            <a:r>
              <a:rPr sz="1100" b="0">
                <a:solidFill>
                  <a:srgbClr val="233138"/>
                </a:solidFill>
                <a:latin typeface="Arial"/>
              </a:rPr>
              <a:t>• Phased district pilot with audit checkpoints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640080" y="4892040"/>
            <a:ext cx="107899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4E626C"/>
                </a:solidFill>
                <a:latin typeface="Arial"/>
              </a:rPr>
              <a:t>ROLLOUT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658368" y="5230368"/>
            <a:ext cx="3438144" cy="594360"/>
          </a:xfrm>
          <a:prstGeom prst="roundRect">
            <a:avLst/>
          </a:prstGeom>
          <a:solidFill>
            <a:srgbClr val="138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1  HACKATHON MVP
Synthetic Assam data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4343400" y="5230368"/>
            <a:ext cx="3438144" cy="594360"/>
          </a:xfrm>
          <a:prstGeom prst="roundRect">
            <a:avLst/>
          </a:prstGeom>
          <a:solidFill>
            <a:srgbClr val="F27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2  CONTROLLED PILOT
One disaster • selected districts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8028432" y="5230368"/>
            <a:ext cx="3438144" cy="594360"/>
          </a:xfrm>
          <a:prstGeom prst="roundRect">
            <a:avLst/>
          </a:prstGeom>
          <a:solidFill>
            <a:srgbClr val="4E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3  SCALE
Independent institutions • real providers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233138"/>
                </a:solidFill>
                <a:latin typeface="Arial"/>
              </a:rPr>
              <a:t>RELIEFCHAIN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640080" y="960120"/>
            <a:ext cx="1078992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50" b="1">
                <a:solidFill>
                  <a:srgbClr val="4E626C"/>
                </a:solidFill>
                <a:latin typeface="Arial"/>
              </a:rPr>
              <a:t>TARGET-AUDIENCE IMPACT  •  SOCIAL, ECONOMIC &amp; OPERATIONAL BENEFITS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502920" y="1234440"/>
            <a:ext cx="2596896" cy="2907792"/>
          </a:xfrm>
          <a:prstGeom prst="roundRect">
            <a:avLst/>
          </a:prstGeom>
          <a:solidFill>
            <a:srgbClr val="EAF6EE"/>
          </a:solidFill>
          <a:ln w="17780">
            <a:solidFill>
              <a:srgbClr val="138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640080" y="1344168"/>
            <a:ext cx="2322576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38A43"/>
                </a:solidFill>
                <a:latin typeface="Arial"/>
              </a:rPr>
              <a:t>BENEFICIARIES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612648" y="1737360"/>
            <a:ext cx="2377439" cy="2313432"/>
          </a:xfrm>
          <a:prstGeom prst="rect">
            <a:avLst/>
          </a:prstGeom>
          <a:noFill/>
        </p:spPr>
        <p:txBody>
          <a:bodyPr wrap="square" lIns="82296" rIns="82296" tIns="54864" bIns="36576">
            <a:normAutofit/>
          </a:bodyPr>
          <a:lstStyle/>
          <a:p>
            <a:pPr algn="l">
              <a:spcAft>
                <a:spcPts val="471"/>
              </a:spcAft>
            </a:pPr>
            <a:r>
              <a:rPr sz="1070" b="0">
                <a:solidFill>
                  <a:srgbClr val="233138"/>
                </a:solidFill>
                <a:latin typeface="Arial"/>
              </a:rPr>
              <a:t>• Private OTP access</a:t>
            </a:r>
          </a:p>
          <a:p>
            <a:pPr algn="l">
              <a:spcAft>
                <a:spcPts val="471"/>
              </a:spcAft>
            </a:pPr>
            <a:r>
              <a:rPr sz="1070" b="0">
                <a:solidFill>
                  <a:srgbClr val="233138"/>
                </a:solidFill>
                <a:latin typeface="Arial"/>
              </a:rPr>
              <a:t>• Own payout status</a:t>
            </a:r>
          </a:p>
          <a:p>
            <a:pPr algn="l">
              <a:spcAft>
                <a:spcPts val="471"/>
              </a:spcAft>
            </a:pPr>
            <a:r>
              <a:rPr sz="1070" b="0">
                <a:solidFill>
                  <a:srgbClr val="233138"/>
                </a:solidFill>
                <a:latin typeface="Arial"/>
              </a:rPr>
              <a:t>• Opaque proof reference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3364992" y="1234440"/>
            <a:ext cx="2596896" cy="2907792"/>
          </a:xfrm>
          <a:prstGeom prst="roundRect">
            <a:avLst/>
          </a:prstGeom>
          <a:solidFill>
            <a:srgbClr val="FFF3E6"/>
          </a:solidFill>
          <a:ln w="17780">
            <a:solidFill>
              <a:srgbClr val="F27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TextBox 17414"/>
          <p:cNvSpPr txBox="1"/>
          <p:nvPr/>
        </p:nvSpPr>
        <p:spPr>
          <a:xfrm>
            <a:off x="3502152" y="1344168"/>
            <a:ext cx="2322576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F27012"/>
                </a:solidFill>
                <a:latin typeface="Arial"/>
              </a:rPr>
              <a:t>PUBLIC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3474720" y="1737360"/>
            <a:ext cx="2377439" cy="2313432"/>
          </a:xfrm>
          <a:prstGeom prst="rect">
            <a:avLst/>
          </a:prstGeom>
          <a:noFill/>
        </p:spPr>
        <p:txBody>
          <a:bodyPr wrap="square" lIns="82296" rIns="82296" tIns="54864" bIns="36576">
            <a:normAutofit/>
          </a:bodyPr>
          <a:lstStyle/>
          <a:p>
            <a:pPr algn="l">
              <a:spcAft>
                <a:spcPts val="471"/>
              </a:spcAft>
            </a:pPr>
            <a:r>
              <a:rPr sz="1070" b="0">
                <a:solidFill>
                  <a:srgbClr val="233138"/>
                </a:solidFill>
                <a:latin typeface="Arial"/>
              </a:rPr>
              <a:t>• District/scheme totals</a:t>
            </a:r>
          </a:p>
          <a:p>
            <a:pPr algn="l">
              <a:spcAft>
                <a:spcPts val="471"/>
              </a:spcAft>
            </a:pPr>
            <a:r>
              <a:rPr sz="1070" b="0">
                <a:solidFill>
                  <a:srgbClr val="233138"/>
                </a:solidFill>
                <a:latin typeface="Arial"/>
              </a:rPr>
              <a:t>• No public recipient PII</a:t>
            </a:r>
          </a:p>
          <a:p>
            <a:pPr algn="l">
              <a:spcAft>
                <a:spcPts val="471"/>
              </a:spcAft>
            </a:pPr>
            <a:r>
              <a:rPr sz="1070" b="0">
                <a:solidFill>
                  <a:srgbClr val="233138"/>
                </a:solidFill>
                <a:latin typeface="Arial"/>
              </a:rPr>
              <a:t>• Proof lookup by reference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6227064" y="1234440"/>
            <a:ext cx="2596896" cy="2907792"/>
          </a:xfrm>
          <a:prstGeom prst="roundRect">
            <a:avLst/>
          </a:prstGeom>
          <a:solidFill>
            <a:srgbClr val="EBF2F6"/>
          </a:solidFill>
          <a:ln w="17780">
            <a:solidFill>
              <a:srgbClr val="4E6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TextBox 17417"/>
          <p:cNvSpPr txBox="1"/>
          <p:nvPr/>
        </p:nvSpPr>
        <p:spPr>
          <a:xfrm>
            <a:off x="6364224" y="1344168"/>
            <a:ext cx="2322576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4E626C"/>
                </a:solidFill>
                <a:latin typeface="Arial"/>
              </a:rPr>
              <a:t>AUDITORS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6336792" y="1737360"/>
            <a:ext cx="2377439" cy="2313432"/>
          </a:xfrm>
          <a:prstGeom prst="rect">
            <a:avLst/>
          </a:prstGeom>
          <a:noFill/>
        </p:spPr>
        <p:txBody>
          <a:bodyPr wrap="square" lIns="82296" rIns="82296" tIns="54864" bIns="36576">
            <a:normAutofit/>
          </a:bodyPr>
          <a:lstStyle/>
          <a:p>
            <a:pPr algn="l">
              <a:spcAft>
                <a:spcPts val="471"/>
              </a:spcAft>
            </a:pPr>
            <a:r>
              <a:rPr sz="1070" b="0">
                <a:solidFill>
                  <a:srgbClr val="233138"/>
                </a:solidFill>
                <a:latin typeface="Arial"/>
              </a:rPr>
              <a:t>• Searchable event trail</a:t>
            </a:r>
          </a:p>
          <a:p>
            <a:pPr algn="l">
              <a:spcAft>
                <a:spcPts val="471"/>
              </a:spcAft>
            </a:pPr>
            <a:r>
              <a:rPr sz="1070" b="0">
                <a:solidFill>
                  <a:srgbClr val="233138"/>
                </a:solidFill>
                <a:latin typeface="Arial"/>
              </a:rPr>
              <a:t>• Faster reconciliation</a:t>
            </a:r>
          </a:p>
          <a:p>
            <a:pPr algn="l">
              <a:spcAft>
                <a:spcPts val="471"/>
              </a:spcAft>
            </a:pPr>
            <a:r>
              <a:rPr sz="1070" b="0">
                <a:solidFill>
                  <a:srgbClr val="233138"/>
                </a:solidFill>
                <a:latin typeface="Arial"/>
              </a:rPr>
              <a:t>• Export + direct ledger check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9089136" y="1234440"/>
            <a:ext cx="2596896" cy="2907792"/>
          </a:xfrm>
          <a:prstGeom prst="roundRect">
            <a:avLst/>
          </a:prstGeom>
          <a:solidFill>
            <a:srgbClr val="EAF6EE"/>
          </a:solidFill>
          <a:ln w="17780">
            <a:solidFill>
              <a:srgbClr val="138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TextBox 17420"/>
          <p:cNvSpPr txBox="1"/>
          <p:nvPr/>
        </p:nvSpPr>
        <p:spPr>
          <a:xfrm>
            <a:off x="9226296" y="1344168"/>
            <a:ext cx="2322576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38A43"/>
                </a:solidFill>
                <a:latin typeface="Arial"/>
              </a:rPr>
              <a:t>GOVT + NGOs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9198863" y="1737360"/>
            <a:ext cx="2377439" cy="2313432"/>
          </a:xfrm>
          <a:prstGeom prst="rect">
            <a:avLst/>
          </a:prstGeom>
          <a:noFill/>
        </p:spPr>
        <p:txBody>
          <a:bodyPr wrap="square" lIns="82296" rIns="82296" tIns="54864" bIns="36576">
            <a:normAutofit/>
          </a:bodyPr>
          <a:lstStyle/>
          <a:p>
            <a:pPr algn="l">
              <a:spcAft>
                <a:spcPts val="471"/>
              </a:spcAft>
            </a:pPr>
            <a:r>
              <a:rPr sz="1070" b="0">
                <a:solidFill>
                  <a:srgbClr val="233138"/>
                </a:solidFill>
                <a:latin typeface="Arial"/>
              </a:rPr>
              <a:t>• Attributable actions</a:t>
            </a:r>
          </a:p>
          <a:p>
            <a:pPr algn="l">
              <a:spcAft>
                <a:spcPts val="471"/>
              </a:spcAft>
            </a:pPr>
            <a:r>
              <a:rPr sz="1070" b="0">
                <a:solidFill>
                  <a:srgbClr val="233138"/>
                </a:solidFill>
                <a:latin typeface="Arial"/>
              </a:rPr>
              <a:t>• Balance/ownership rules</a:t>
            </a:r>
          </a:p>
          <a:p>
            <a:pPr algn="l">
              <a:spcAft>
                <a:spcPts val="471"/>
              </a:spcAft>
            </a:pPr>
            <a:r>
              <a:rPr sz="1070" b="0">
                <a:solidFill>
                  <a:srgbClr val="233138"/>
                </a:solidFill>
                <a:latin typeface="Arial"/>
              </a:rPr>
              <a:t>• Shared source of evidence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685800" y="4434840"/>
            <a:ext cx="107899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4E626C"/>
                </a:solidFill>
                <a:latin typeface="Arial"/>
              </a:rPr>
              <a:t>EXPECTED SYSTEM OUTCOMES</a:t>
            </a:r>
          </a:p>
        </p:txBody>
      </p:sp>
      <p:sp>
        <p:nvSpPr>
          <p:cNvPr id="17424" name="Oval 17423"/>
          <p:cNvSpPr/>
          <p:nvPr/>
        </p:nvSpPr>
        <p:spPr>
          <a:xfrm>
            <a:off x="621792" y="4892040"/>
            <a:ext cx="502920" cy="502920"/>
          </a:xfrm>
          <a:prstGeom prst="ellipse">
            <a:avLst/>
          </a:prstGeom>
          <a:solidFill>
            <a:srgbClr val="138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1243584" y="4828032"/>
            <a:ext cx="1965960" cy="24688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38A43"/>
                </a:solidFill>
                <a:latin typeface="Arial"/>
              </a:rPr>
              <a:t>TRACEABLE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1243584" y="5102352"/>
            <a:ext cx="1965960" cy="47548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50" b="0">
                <a:solidFill>
                  <a:srgbClr val="233138"/>
                </a:solidFill>
                <a:latin typeface="Arial"/>
              </a:rPr>
              <a:t>Source → allocation → payout</a:t>
            </a:r>
          </a:p>
        </p:txBody>
      </p:sp>
      <p:sp>
        <p:nvSpPr>
          <p:cNvPr id="17427" name="Oval 17426"/>
          <p:cNvSpPr/>
          <p:nvPr/>
        </p:nvSpPr>
        <p:spPr>
          <a:xfrm>
            <a:off x="3410712" y="4892040"/>
            <a:ext cx="502920" cy="502920"/>
          </a:xfrm>
          <a:prstGeom prst="ellipse">
            <a:avLst/>
          </a:prstGeom>
          <a:solidFill>
            <a:srgbClr val="F27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4032504" y="4828032"/>
            <a:ext cx="1965960" cy="24688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F27012"/>
                </a:solidFill>
                <a:latin typeface="Arial"/>
              </a:rPr>
              <a:t>TAMPER-EVIDENT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4032504" y="5102352"/>
            <a:ext cx="1965960" cy="47548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50" b="0">
                <a:solidFill>
                  <a:srgbClr val="233138"/>
                </a:solidFill>
                <a:latin typeface="Arial"/>
              </a:rPr>
              <a:t>History cannot be silently rewritten</a:t>
            </a:r>
          </a:p>
        </p:txBody>
      </p:sp>
      <p:sp>
        <p:nvSpPr>
          <p:cNvPr id="17430" name="Oval 17429"/>
          <p:cNvSpPr/>
          <p:nvPr/>
        </p:nvSpPr>
        <p:spPr>
          <a:xfrm>
            <a:off x="6199631" y="4892040"/>
            <a:ext cx="502920" cy="502920"/>
          </a:xfrm>
          <a:prstGeom prst="ellipse">
            <a:avLst/>
          </a:prstGeom>
          <a:solidFill>
            <a:srgbClr val="138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6821423" y="4828032"/>
            <a:ext cx="1965960" cy="24688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38A43"/>
                </a:solidFill>
                <a:latin typeface="Arial"/>
              </a:rPr>
              <a:t>PRIVACY-SAFE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6821423" y="5102352"/>
            <a:ext cx="1965960" cy="47548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50" b="0">
                <a:solidFill>
                  <a:srgbClr val="233138"/>
                </a:solidFill>
                <a:latin typeface="Arial"/>
              </a:rPr>
              <a:t>Evidence without identity exposure</a:t>
            </a:r>
          </a:p>
        </p:txBody>
      </p:sp>
      <p:sp>
        <p:nvSpPr>
          <p:cNvPr id="17433" name="Oval 17432"/>
          <p:cNvSpPr/>
          <p:nvPr/>
        </p:nvSpPr>
        <p:spPr>
          <a:xfrm>
            <a:off x="8988551" y="4892040"/>
            <a:ext cx="502920" cy="502920"/>
          </a:xfrm>
          <a:prstGeom prst="ellipse">
            <a:avLst/>
          </a:prstGeom>
          <a:solidFill>
            <a:srgbClr val="F27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9610343" y="4828032"/>
            <a:ext cx="1965960" cy="24688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F27012"/>
                </a:solidFill>
                <a:latin typeface="Arial"/>
              </a:rPr>
              <a:t>REUSABLE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9610343" y="5102352"/>
            <a:ext cx="1965960" cy="47548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50" b="0">
                <a:solidFill>
                  <a:srgbClr val="233138"/>
                </a:solidFill>
                <a:latin typeface="Arial"/>
              </a:rPr>
              <a:t>New disaster, district or scheme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233138"/>
                </a:solidFill>
                <a:latin typeface="Arial"/>
              </a:rPr>
              <a:t>RELIEFCHAIN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640080" y="960120"/>
            <a:ext cx="1078992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50" b="1">
                <a:solidFill>
                  <a:srgbClr val="4E626C"/>
                </a:solidFill>
                <a:latin typeface="Arial"/>
              </a:rPr>
              <a:t>RESEARCH WORK  •  OFFICIAL TECHNICAL &amp; PRIVACY REFERENCES</a:t>
            </a:r>
          </a:p>
        </p:txBody>
      </p:sp>
      <p:sp>
        <p:nvSpPr>
          <p:cNvPr id="17411" name="Oval 17410"/>
          <p:cNvSpPr/>
          <p:nvPr/>
        </p:nvSpPr>
        <p:spPr>
          <a:xfrm>
            <a:off x="658368" y="1280160"/>
            <a:ext cx="438912" cy="438912"/>
          </a:xfrm>
          <a:prstGeom prst="ellipse">
            <a:avLst/>
          </a:prstGeom>
          <a:solidFill>
            <a:srgbClr val="138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1261872" y="1207008"/>
            <a:ext cx="996696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50" b="1">
                <a:solidFill>
                  <a:srgbClr val="138A43"/>
                </a:solidFill>
                <a:latin typeface="Arial"/>
              </a:rPr>
              <a:t>Hyperledger Fabric — security model, identities and permissioned governance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1261872" y="1545336"/>
            <a:ext cx="99669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50" b="0">
                <a:solidFill>
                  <a:srgbClr val="4E626C"/>
                </a:solidFill>
                <a:latin typeface="Arial"/>
                <a:hlinkClick r:id="rId4"/>
              </a:rPr>
              <a:t>hyperledger-fabric.readthedocs.io/en/latest/security_model.html</a:t>
            </a:r>
          </a:p>
        </p:txBody>
      </p:sp>
      <p:sp>
        <p:nvSpPr>
          <p:cNvPr id="17414" name="Oval 17413"/>
          <p:cNvSpPr/>
          <p:nvPr/>
        </p:nvSpPr>
        <p:spPr>
          <a:xfrm>
            <a:off x="658368" y="2231136"/>
            <a:ext cx="438912" cy="438912"/>
          </a:xfrm>
          <a:prstGeom prst="ellipse">
            <a:avLst/>
          </a:prstGeom>
          <a:solidFill>
            <a:srgbClr val="F27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1261872" y="2157984"/>
            <a:ext cx="996696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50" b="1">
                <a:solidFill>
                  <a:srgbClr val="F27012"/>
                </a:solidFill>
                <a:latin typeface="Arial"/>
              </a:rPr>
              <a:t>Hyperledger Fabric — tamper-resistant ledger, world state and history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1261872" y="2496312"/>
            <a:ext cx="99669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50" b="0">
                <a:solidFill>
                  <a:srgbClr val="4E626C"/>
                </a:solidFill>
                <a:latin typeface="Arial"/>
                <a:hlinkClick r:id="rId5"/>
              </a:rPr>
              <a:t>hyperledger-fabric.readthedocs.io/en/release-2.5/ledger/ledger.html</a:t>
            </a:r>
          </a:p>
        </p:txBody>
      </p:sp>
      <p:sp>
        <p:nvSpPr>
          <p:cNvPr id="17417" name="Oval 17416"/>
          <p:cNvSpPr/>
          <p:nvPr/>
        </p:nvSpPr>
        <p:spPr>
          <a:xfrm>
            <a:off x="658368" y="3182112"/>
            <a:ext cx="438912" cy="438912"/>
          </a:xfrm>
          <a:prstGeom prst="ellipse">
            <a:avLst/>
          </a:prstGeom>
          <a:solidFill>
            <a:srgbClr val="4E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1261872" y="3108960"/>
            <a:ext cx="996696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50" b="1">
                <a:solidFill>
                  <a:srgbClr val="4E626C"/>
                </a:solidFill>
                <a:latin typeface="Arial"/>
              </a:rPr>
              <a:t>NIST — AES-GCM authenticated encryption and HMAC standards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1261872" y="3447288"/>
            <a:ext cx="99669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50" b="0">
                <a:solidFill>
                  <a:srgbClr val="4E626C"/>
                </a:solidFill>
                <a:latin typeface="Arial"/>
                <a:hlinkClick r:id="rId6"/>
              </a:rPr>
              <a:t>csrc.nist.gov/pubs/sp/800/38/d/final  •  csrc.nist.gov/pubs/fips/198-1/final</a:t>
            </a:r>
          </a:p>
        </p:txBody>
      </p:sp>
      <p:sp>
        <p:nvSpPr>
          <p:cNvPr id="17420" name="Oval 17419"/>
          <p:cNvSpPr/>
          <p:nvPr/>
        </p:nvSpPr>
        <p:spPr>
          <a:xfrm>
            <a:off x="658368" y="4133088"/>
            <a:ext cx="438912" cy="438912"/>
          </a:xfrm>
          <a:prstGeom prst="ellipse">
            <a:avLst/>
          </a:prstGeom>
          <a:solidFill>
            <a:srgbClr val="138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1261872" y="4059936"/>
            <a:ext cx="996696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50" b="1">
                <a:solidFill>
                  <a:srgbClr val="138A43"/>
                </a:solidFill>
                <a:latin typeface="Arial"/>
              </a:rPr>
              <a:t>India privacy context — DPDP Act 2023; UIDAI Aadhaar Data Vault guidance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1261872" y="4398264"/>
            <a:ext cx="99669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50" b="0">
                <a:solidFill>
                  <a:srgbClr val="4E626C"/>
                </a:solidFill>
                <a:latin typeface="Arial"/>
                <a:hlinkClick r:id="rId7"/>
              </a:rPr>
              <a:t>meity.gov.in  •  uidai.gov.in/images/Circular-No.14_of-2025.pdf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658368" y="5074920"/>
            <a:ext cx="10561320" cy="658368"/>
          </a:xfrm>
          <a:prstGeom prst="roundRect">
            <a:avLst/>
          </a:prstGeom>
          <a:solidFill>
            <a:srgbClr val="EAF6EE"/>
          </a:solidFill>
          <a:ln>
            <a:solidFill>
              <a:srgbClr val="138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>
                <a:solidFill>
                  <a:srgbClr val="138A43"/>
                </a:solidFill>
                <a:latin typeface="Arial"/>
              </a:rPr>
              <a:t>MVP EVIDENCE  •  Fabric ReadAsset + GetHistory  •  committed-event index  •  contract/privacy/invariant tests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ReliefChain — SIH 2026 Idea Presentation</dc:title>
  <dc:subject>Privacy-preserving, blockchain-verifiable disaster relief fund tracking</dc:subject>
  <dc:creator>RELIEFCHAIN [VERIFY PORTAL NAME]</dc:creator>
  <cp:keywords/>
  <dc:description>Built from the supplied SIH 2026 template; slide master and theme retained.</dc:description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